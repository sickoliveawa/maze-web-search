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84" r:id="rId4"/>
    <p:sldId id="257" r:id="rId5"/>
    <p:sldId id="386" r:id="rId6"/>
    <p:sldId id="387" r:id="rId7"/>
    <p:sldId id="388" r:id="rId8"/>
    <p:sldId id="389" r:id="rId9"/>
    <p:sldId id="390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3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3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53374"/>
            <a:ext cx="12191999" cy="4046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11033" y="6515858"/>
            <a:ext cx="3651504" cy="34213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453374"/>
            <a:ext cx="12191999" cy="4046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11033" y="6515858"/>
            <a:ext cx="3651504" cy="342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2244" y="253110"/>
            <a:ext cx="124460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8381" y="1171137"/>
            <a:ext cx="10546080" cy="4722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17706" y="6510051"/>
            <a:ext cx="218439" cy="275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1.bin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9.png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78483" y="5135981"/>
            <a:ext cx="3469004" cy="57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kumimoji="0" sz="1400" b="0" i="0" u="none" strike="noStrike" kern="0" cap="none" spc="-20" normalizeH="0" baseline="0" noProof="1" dirty="0">
                <a:solidFill>
                  <a:srgbClr val="1F7905"/>
                </a:solidFill>
                <a:latin typeface="Consolas" panose="020B0609020204030204" charset="0"/>
                <a:ea typeface="微软雅黑" panose="020B0503020204020204" charset="-122"/>
                <a:cs typeface="Consolas" panose="020B0609020204030204" charset="0"/>
              </a:rPr>
              <a:t>How will I ever get out of this labyrinth!</a:t>
            </a:r>
            <a:endParaRPr kumimoji="0" sz="1400" b="0" i="0" u="none" strike="noStrike" kern="0" cap="none" spc="-20" normalizeH="0" baseline="0" noProof="1" dirty="0">
              <a:solidFill>
                <a:srgbClr val="1F7905"/>
              </a:solidFill>
              <a:latin typeface="Consolas" panose="020B0609020204030204" charset="0"/>
              <a:ea typeface="微软雅黑" panose="020B0503020204020204" charset="-122"/>
              <a:cs typeface="Consolas" panose="020B060902020403020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6950" y="1385570"/>
            <a:ext cx="2107565" cy="1113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lang="en-US" altLang="zh-CN" sz="2600" b="1" spc="-25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DSA</a:t>
            </a:r>
            <a:r>
              <a:rPr lang="zh-CN" altLang="en-US" sz="2600" b="1" spc="-25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课程设计</a:t>
            </a:r>
            <a:endParaRPr sz="2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5080" algn="r">
              <a:lnSpc>
                <a:spcPct val="100000"/>
              </a:lnSpc>
              <a:spcBef>
                <a:spcPts val="2825"/>
              </a:spcBef>
            </a:pPr>
            <a:r>
              <a:rPr lang="zh-CN" altLang="en-US" sz="2200" b="1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走迷宫</a:t>
            </a:r>
            <a:endParaRPr lang="zh-CN" altLang="en-US" sz="2200" b="1" spc="-50" dirty="0">
              <a:solidFill>
                <a:srgbClr val="1766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291" y="4101464"/>
            <a:ext cx="3402965" cy="659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indent="0" eaLnBrk="1" fontAlgn="auto" latinLnBrk="0" hangingPunct="1">
              <a:lnSpc>
                <a:spcPct val="150000"/>
              </a:lnSpc>
              <a:spcBef>
                <a:spcPts val="100"/>
              </a:spcBef>
            </a:pPr>
            <a:r>
              <a:rPr kumimoji="0" sz="1400" b="0" i="0" u="none" strike="noStrike" kern="0" cap="none" spc="-20" normalizeH="0" baseline="0" noProof="1" dirty="0">
                <a:solidFill>
                  <a:srgbClr val="1F790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无需建造一座迷宫，因为整个宇宙本身就是一座迷宫。</a:t>
            </a:r>
            <a:endParaRPr kumimoji="0" sz="1400" b="0" i="0" u="none" strike="noStrike" kern="0" cap="none" spc="-20" normalizeH="0" baseline="0" noProof="1" dirty="0">
              <a:solidFill>
                <a:srgbClr val="1F790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9133" y="5103621"/>
            <a:ext cx="1947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DSA</a:t>
            </a:r>
            <a:r>
              <a:rPr sz="1800" spc="-114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0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@</a:t>
            </a:r>
            <a:r>
              <a:rPr sz="1800" spc="-5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0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Spring</a:t>
            </a:r>
            <a:r>
              <a:rPr sz="1800" spc="-2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 2026</a:t>
            </a:r>
            <a:endParaRPr sz="1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7772400" y="3585210"/>
            <a:ext cx="2941320" cy="861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5080" indent="0" algn="r" eaLnBrk="1" fontAlgn="auto" latinLnBrk="0" hangingPunct="1">
              <a:lnSpc>
                <a:spcPct val="100000"/>
              </a:lnSpc>
              <a:spcBef>
                <a:spcPts val="2300"/>
              </a:spcBef>
            </a:pP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组员：</a:t>
            </a: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冯卓源</a:t>
            </a: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李斯羽</a:t>
            </a:r>
            <a:endParaRPr lang="zh-CN" altLang="en-US" sz="1800" b="0" spc="-50" dirty="0">
              <a:solidFill>
                <a:srgbClr val="1766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5080" indent="0" algn="r" eaLnBrk="1" fontAlgn="auto" latinLnBrk="0" hangingPunct="1">
              <a:lnSpc>
                <a:spcPct val="100000"/>
              </a:lnSpc>
              <a:spcBef>
                <a:spcPts val="2300"/>
              </a:spcBef>
            </a:pP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汇报人：李斯羽</a:t>
            </a:r>
            <a:endParaRPr lang="zh-CN" altLang="en-US" sz="1800" b="0" spc="-50" dirty="0">
              <a:solidFill>
                <a:srgbClr val="1766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1758"/>
          <a:stretch>
            <a:fillRect/>
          </a:stretch>
        </p:blipFill>
        <p:spPr>
          <a:xfrm>
            <a:off x="1066800" y="381000"/>
            <a:ext cx="425767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8545830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迷宫生成、路径搜索、图形化演示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60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随机矩形迷宫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lang="zh-CN" altLang="en-US" sz="2000" b="1" spc="-1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蒙德里安名画迷宫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lang="zh-CN" altLang="en-US" sz="2000" b="1" spc="-1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圆形迷宫</a:t>
            </a:r>
            <a:r>
              <a:rPr sz="2000" b="1" spc="-1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spc="-2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090" y="3465195"/>
            <a:ext cx="9416415" cy="82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扩展内容</a:t>
            </a:r>
            <a:r>
              <a:rPr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kumimoji="0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kumimoji="0" sz="2000" b="1" i="0" u="none" strike="noStrike" kern="0" cap="none" spc="-10" normalizeH="0" baseline="0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元胞自动机（CA）和进化策略</a:t>
            </a:r>
            <a:r>
              <a:rPr kumimoji="0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自动生成迷宫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0690">
              <a:lnSpc>
                <a:spcPct val="100000"/>
              </a:lnSpc>
              <a:spcBef>
                <a:spcPts val="1555"/>
              </a:spcBef>
            </a:pPr>
            <a:r>
              <a:rPr sz="2000" spc="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en-US" altLang="en-US" sz="2000" spc="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在多族</a:t>
            </a:r>
            <a:r>
              <a:rPr kumimoji="0" lang="en-US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</a:t>
            </a:r>
            <a:r>
              <a:rPr kumimoji="0" lang="en-US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规则空间中搜索</a:t>
            </a:r>
            <a:endParaRPr kumimoji="0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090" y="4480560"/>
            <a:ext cx="8442960" cy="134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en-US" altLang="en-US" sz="200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 spc="-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候选规则先演化出二值网格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600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建立打分规则判断该网格有多像迷宫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把分数作为进化策略的适应度，保留高分规则、变异并产生下一代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latin typeface="Tahoma" panose="020B0604030504040204"/>
                <a:cs typeface="Tahoma" panose="020B0604030504040204"/>
              </a:rPr>
              <a:t>1</a:t>
            </a:r>
            <a:endParaRPr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设计梗概</a:t>
            </a:r>
            <a:endParaRPr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object 15"/>
          <p:cNvSpPr txBox="1">
            <a:spLocks noGrp="1"/>
          </p:cNvSpPr>
          <p:nvPr/>
        </p:nvSpPr>
        <p:spPr>
          <a:xfrm>
            <a:off x="7614031" y="6596823"/>
            <a:ext cx="3379977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sz="1000" dirty="0"/>
              <a:t>Data Structures &amp; Algorithms, School of AI, UCAS</a:t>
            </a:r>
            <a:endParaRPr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8545830" cy="3380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需要解决以下问题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60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zh-CN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使用合适的数据结构表示墙、通路、入口和出口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zh-CN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自动生成一个连通的随机迷宫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kumimoji="0" lang="zh-CN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</a:t>
            </a:r>
            <a:r>
              <a:rPr kumimoji="0" sz="2000" b="1" i="0" u="none" strike="noStrike" kern="0" cap="none" spc="-10" normalizeH="0" baseline="0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步数最少</a:t>
            </a:r>
            <a:r>
              <a:rPr kumimoji="0" lang="zh-CN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的路径</a:t>
            </a:r>
            <a:endParaRPr kumimoji="0" lang="zh-CN" sz="2000" b="1" i="0" u="none" strike="noStrike" kern="0" cap="none" spc="-1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kumimoji="0" lang="zh-CN" altLang="en-US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通过图形界面动态展示搜索顺序和最终路径</a:t>
            </a:r>
            <a:endParaRPr kumimoji="0" lang="zh-CN" altLang="en-US" sz="2000" b="1" i="0" u="none" strike="noStrike" kern="0" cap="none" spc="-1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kumimoji="0" lang="zh-CN" altLang="en-US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将蒙德里安几何画作拆分成多个房间，保证路径至少经过三个房间</a:t>
            </a:r>
            <a:endParaRPr kumimoji="0" lang="zh-CN" altLang="en-US" sz="2000" b="1" i="0" u="none" strike="noStrike" kern="0" cap="none" spc="-1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kumimoji="0" lang="zh-CN" altLang="en-US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生成圆形等非矩形迷宫，并支持出口位于迷宫内部</a:t>
            </a:r>
            <a:endParaRPr kumimoji="0" lang="zh-CN" altLang="en-US" sz="2000" b="1" i="0" u="none" strike="noStrike" kern="0" cap="none" spc="-1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11617706" y="6510051"/>
            <a:ext cx="218439" cy="259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n-US" spc="-50" dirty="0">
                <a:latin typeface="Tahoma" panose="020B0604030504040204"/>
                <a:cs typeface="Tahoma" panose="020B0604030504040204"/>
              </a:rPr>
              <a:t>2</a:t>
            </a:r>
            <a:endParaRPr lang="en-US"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</a:t>
            </a:r>
            <a:endParaRPr lang="zh-CN" altLang="en-US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466090" y="1119505"/>
                <a:ext cx="10854690" cy="339280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01625" indent="-288925">
                  <a:lnSpc>
                    <a:spcPct val="100000"/>
                  </a:lnSpc>
                  <a:spcBef>
                    <a:spcPts val="105"/>
                  </a:spcBef>
                  <a:buFont typeface="Wingdings" panose="05000000000000000000"/>
                  <a:buChar char=""/>
                  <a:tabLst>
                    <a:tab pos="301625" algn="l"/>
                  </a:tabLst>
                </a:pPr>
                <a:r>
                  <a:rPr lang="zh-CN" altLang="en-US" sz="2000" b="1" spc="-20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问题建模</a:t>
                </a:r>
                <a:endParaRPr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20725" lvl="1" indent="-280035">
                  <a:lnSpc>
                    <a:spcPct val="100000"/>
                  </a:lnSpc>
                  <a:spcBef>
                    <a:spcPts val="1605"/>
                  </a:spcBef>
                  <a:buFont typeface="Consolas" panose="020B0609020204030204"/>
                  <a:buChar char="-"/>
                  <a:tabLst>
                    <a:tab pos="72072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迷宫可以抽象为图</a:t>
                </a:r>
                <a:r>
                  <a:rPr kumimoji="0" lang="en-US" altLang="zh-CN" sz="2000" b="0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微软雅黑" panose="020B0503020204020204" charset="-122"/>
                        <a:cs typeface="Latin Modern Math" panose="02000503000000000000" charset="0"/>
                      </a:rPr>
                      <m:t>𝐺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=(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微软雅黑" panose="020B0503020204020204" charset="-122"/>
                        <a:cs typeface="Latin Modern Math" panose="02000503000000000000" charset="0"/>
                      </a:rPr>
                      <m:t>𝑉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, 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微软雅黑" panose="020B0503020204020204" charset="-122"/>
                        <a:cs typeface="Latin Modern Math" panose="02000503000000000000" charset="0"/>
                      </a:rPr>
                      <m:t>𝐸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)</m:t>
                    </m:r>
                  </m:oMath>
                </a14:m>
                <a:r>
                  <a:rPr kumimoji="0" lang="en-US" altLang="zh-CN" sz="2000" b="0" i="1" u="none" strike="noStrike" kern="0" cap="none" spc="-20" normalizeH="0" baseline="0" noProof="1" dirty="0">
                    <a:solidFill>
                      <a:srgbClr val="17660C"/>
                    </a:solidFill>
                    <a:uFillTx/>
                    <a:latin typeface="Latin Modern Math" panose="02000503000000000000" charset="0"/>
                    <a:ea typeface="MS Mincho" charset="0"/>
                    <a:cs typeface="Latin Modern Math" panose="02000503000000000000" charset="0"/>
                  </a:rPr>
                  <a:t> </a:t>
                </a:r>
                <a:endPara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每个可通行位置对应一个顶点，相邻且连通的位置之间存在一条边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寻路问题就是在图中寻找一条从起点</a:t>
                </a:r>
                <a14:m>
                  <m:oMath xmlns:m="http://schemas.openxmlformats.org/officeDocument/2006/math"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 </m:t>
                    </m:r>
                    <m: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𝑆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 </m:t>
                    </m:r>
                  </m:oMath>
                </a14:m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到终点</a:t>
                </a:r>
                <a:r>
                  <a:rPr kumimoji="0" lang="en-US" altLang="zh-CN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kumimoji="0" lang="en-US" altLang="zh-CN" sz="2000" b="0" i="1" u="none" strike="noStrike" kern="0" cap="none" spc="0" normalizeH="0" baseline="0" noProof="1" dirty="0">
                    <a:solidFill>
                      <a:srgbClr val="17660C"/>
                    </a:solidFill>
                    <a:uFillTx/>
                    <a:latin typeface="Latin Modern Math" panose="02000503000000000000" charset="0"/>
                    <a:ea typeface="MS Mincho" charset="0"/>
                    <a:cs typeface="Latin Modern Math" panose="02000503000000000000" charset="0"/>
                  </a:rPr>
                  <a:t>E </a:t>
                </a: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的路径。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矩形迷宫中的顶点由 (</a:t>
                </a:r>
                <a:r>
                  <a:rPr kumimoji="0" lang="en-US" altLang="zh-CN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row, col) </a:t>
                </a: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表示，相邻关系是</a:t>
                </a:r>
                <a:r>
                  <a:rPr kumimoji="0" sz="2000" b="1" i="0" u="none" strike="noStrike" kern="0" cap="none" spc="-10" normalizeH="0" baseline="0" noProof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上、右、下、左</a:t>
                </a: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四个方向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圆形迷宫，将顶点改为 (</a:t>
                </a:r>
                <a:r>
                  <a:rPr kumimoji="0" lang="en-US" altLang="zh-CN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ring, sector)，</a:t>
                </a: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分别表示环号和扇区号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同环相邻扇区以及内外环对应扇区之间构成边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119505"/>
                <a:ext cx="10854690" cy="3392805"/>
              </a:xfrm>
              <a:prstGeom prst="rect">
                <a:avLst/>
              </a:prstGeom>
              <a:blipFill rotWithShape="1">
                <a:blip r:embed="rId5"/>
                <a:stretch>
                  <a:fillRect t="-2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11617706" y="6510051"/>
            <a:ext cx="218439" cy="259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n-US" spc="-50" dirty="0">
                <a:latin typeface="Tahoma" panose="020B0604030504040204"/>
                <a:cs typeface="Tahoma" panose="020B0604030504040204"/>
              </a:rPr>
              <a:t>3</a:t>
            </a:r>
            <a:endParaRPr lang="en-US"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</a:t>
            </a:r>
            <a:endParaRPr lang="zh-CN" altLang="en-US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114300" imgH="215900" progId="Equation.KSEE3">
                  <p:embed/>
                </p:oleObj>
              </mc:Choice>
              <mc:Fallback>
                <p:oleObj name="" r:id="rId6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11617706" y="6510051"/>
            <a:ext cx="218439" cy="259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n-US" spc="-50" dirty="0">
                <a:latin typeface="Tahoma" panose="020B0604030504040204"/>
                <a:cs typeface="Tahoma" panose="020B0604030504040204"/>
              </a:rPr>
              <a:t>3</a:t>
            </a:r>
            <a:endParaRPr lang="en-US"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477837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数据结构设计与实现</a:t>
            </a:r>
            <a:endParaRPr lang="zh-CN" altLang="en-US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114300" imgH="215900" progId="Equation.KSEE3">
                  <p:embed/>
                </p:oleObj>
              </mc:Choice>
              <mc:Fallback>
                <p:oleObj name="" r:id="rId5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11" name="object 9"/>
          <p:cNvSpPr txBox="1"/>
          <p:nvPr/>
        </p:nvSpPr>
        <p:spPr>
          <a:xfrm>
            <a:off x="466090" y="1119505"/>
            <a:ext cx="8545830" cy="821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 控制台版本使用 vector&lt;string&gt; 保存迷宫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网页版本使用二维数组保存每个格子的状态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466090" y="2118360"/>
            <a:ext cx="8442960" cy="185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en-US" altLang="en-US" sz="200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 spc="-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 { r, c }：</a:t>
            </a:r>
            <a:r>
              <a:rPr lang="zh-CN" altLang="en-US" sz="2000" b="1" spc="-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表示矩形迷宫中的坐标</a:t>
            </a:r>
            <a:r>
              <a:rPr lang="zh-CN" altLang="en-US" sz="2000" b="1" spc="-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值网格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600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en-US" altLang="zh-CN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grid：</a:t>
            </a: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二维迷宫矩阵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en-US" altLang="zh-CN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visited / seen：</a:t>
            </a: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记录顶点是否已经访问，避免重复搜索</a:t>
            </a:r>
            <a:endParaRPr kumimoji="0" lang="zh-CN" altLang="en-US" sz="2000" b="1" i="0" u="none" strike="noStrike" kern="0" cap="none" spc="-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en-US" altLang="zh-CN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 </a:t>
            </a: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0" lang="en-US" altLang="zh-CN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BFS...</a:t>
            </a:r>
            <a:endParaRPr kumimoji="0" lang="en-US" altLang="zh-CN" sz="2000" b="1" i="0" u="none" strike="noStrike" kern="0" cap="none" spc="-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rcRect r="13902"/>
          <a:stretch>
            <a:fillRect/>
          </a:stretch>
        </p:blipFill>
        <p:spPr>
          <a:xfrm>
            <a:off x="7620000" y="1295400"/>
            <a:ext cx="4211955" cy="4693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11181080" cy="3822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时间复杂度与空间复杂度分析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zh-CN" altLang="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记迷宫行数为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，列数为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，可通行顶点总数为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，相邻可通行顶点之间的连通边数记为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endParaRPr kumimoji="0" lang="en-US" altLang="zh-CN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考虑到顶点至多连接四条边，因此二者同阶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迷宫生成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en-US" altLang="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DFS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生成迷宫时，每个候选单元最多被访问一次，时空复杂度均为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O(RC)</a:t>
            </a:r>
            <a:endParaRPr kumimoji="0" lang="en-US" altLang="zh-CN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寻路与回溯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-  B</a:t>
            </a:r>
            <a:r>
              <a:rPr kumimoji="0" lang="en-US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的时空复杂度仅与路径长度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有关，均为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O(L)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</a:pP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latin typeface="Tahoma" panose="020B0604030504040204"/>
                <a:cs typeface="Tahoma" panose="020B0604030504040204"/>
              </a:rPr>
              <a:t>1</a:t>
            </a:r>
            <a:endParaRPr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复杂度分析</a:t>
            </a:r>
            <a:endParaRPr lang="en-US" altLang="zh-CN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11181080" cy="3321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算法结果与比较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在同一迷宫上，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BFS 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得到的路径长度不大于 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DFS</a:t>
            </a:r>
            <a:endParaRPr kumimoji="0" lang="en-US" altLang="zh-CN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蒙德里安迷宫验证了普通图搜索可以应用的实际情况</a:t>
            </a:r>
            <a:endParaRPr kumimoji="0" lang="zh-CN" altLang="en-US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</a:t>
            </a: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圆形迷宫验证了邻接关系改变后，同一套搜索思想可以用于更广义的非矩形结构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存在的不足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O(RC)</a:t>
            </a:r>
            <a:endParaRPr kumimoji="0" lang="en-US" altLang="zh-CN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700" indent="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</a:pP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latin typeface="Tahoma" panose="020B0604030504040204"/>
                <a:cs typeface="Tahoma" panose="020B0604030504040204"/>
              </a:rPr>
              <a:t>1</a:t>
            </a:r>
            <a:endParaRPr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结果分析</a:t>
            </a:r>
            <a:endParaRPr lang="en-US" altLang="zh-CN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11181080" cy="185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indent="502920" eaLnBrk="1" fontAlgn="auto" latinLnBrk="0" hangingPunct="1">
              <a:lnSpc>
                <a:spcPct val="15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indentchars xmlns:wpsdc="http://www.wps.cn/officeDocument/2017/drawingmlCustomData" val="200" checksum="2456631794"/>
                </a:ext>
              </a:ext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这个项目的选择一开始是冯卓源同学提出的，他找到了关于元胞自动机的视频，受到启发希望能在此基础上实现迷宫生成与打分的自动化。我负责的是朴素的</a:t>
            </a:r>
            <a:r>
              <a:rPr kumimoji="0" lang="en-US" altLang="zh-CN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实现方法与前端设计，他则负责一开始提出的元胞自动机的实现。受限于能力、硬件的不足，最终成果可能还存在许多不完善的地方，希望老师多多包涵。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latin typeface="Tahoma" panose="020B0604030504040204"/>
                <a:cs typeface="Tahoma" panose="020B0604030504040204"/>
              </a:rPr>
              <a:t>1</a:t>
            </a:r>
            <a:endParaRPr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成员分工</a:t>
            </a:r>
            <a:endParaRPr lang="en-US" altLang="zh-CN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566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1606</Words>
  <Application>WPS 演示</Application>
  <PresentationFormat>On-screen Show (4:3)</PresentationFormat>
  <Paragraphs>151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Consolas</vt:lpstr>
      <vt:lpstr>Verdana</vt:lpstr>
      <vt:lpstr>Tahoma</vt:lpstr>
      <vt:lpstr>Consolas</vt:lpstr>
      <vt:lpstr>Palatino Linotype</vt:lpstr>
      <vt:lpstr>Wingdings</vt:lpstr>
      <vt:lpstr>Cambria Math</vt:lpstr>
      <vt:lpstr>Times New Roman</vt:lpstr>
      <vt:lpstr>Arial Unicode MS</vt:lpstr>
      <vt:lpstr>Calibri</vt:lpstr>
      <vt:lpstr>Calibri</vt:lpstr>
      <vt:lpstr>Symbol</vt:lpstr>
      <vt:lpstr>Cambria</vt:lpstr>
      <vt:lpstr>Arial MT</vt:lpstr>
      <vt:lpstr>Lucida Sans Unicode</vt:lpstr>
      <vt:lpstr>Arial MT</vt:lpstr>
      <vt:lpstr>Cambria</vt:lpstr>
      <vt:lpstr>Lucida Sans Unicode</vt:lpstr>
      <vt:lpstr>Palatino Linotype</vt:lpstr>
      <vt:lpstr>Symbol</vt:lpstr>
      <vt:lpstr>Tahoma</vt:lpstr>
      <vt:lpstr>Times New Roman</vt:lpstr>
      <vt:lpstr>Verdana</vt:lpstr>
      <vt:lpstr>Wingdings</vt:lpstr>
      <vt:lpstr>Wonder Arial</vt:lpstr>
      <vt:lpstr>Latin Modern Math</vt:lpstr>
      <vt:lpstr>MS Mincho</vt:lpstr>
      <vt:lpstr>Segoe Print</vt:lpstr>
      <vt:lpstr>quote-cjk-patch</vt:lpstr>
      <vt:lpstr>katex_main</vt:lpstr>
      <vt:lpstr>KaTeX_Math</vt:lpstr>
      <vt:lpstr>Office Theme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WPS_1724467281</cp:lastModifiedBy>
  <cp:revision>3</cp:revision>
  <dcterms:created xsi:type="dcterms:W3CDTF">2026-07-17T13:00:00Z</dcterms:created>
  <dcterms:modified xsi:type="dcterms:W3CDTF">2026-07-17T15:39:45Z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2026-04-28T16:00:00Z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2026-07-16T16:00:00Z</vt:filetime>
  </property>
  <property fmtid="{D5CDD505-2E9C-101B-9397-08002B2CF9AE}" pid="6" name="Producer">
    <vt:lpwstr>Microsoft® PowerPoint® 2019</vt:lpwstr>
  </property>
  <property fmtid="{D5CDD505-2E9C-101B-9397-08002B2CF9AE}" pid="7" name="KSOProductBuildVer">
    <vt:lpwstr>2052-12.1.0.26375</vt:lpwstr>
  </property>
  <property fmtid="{D5CDD505-2E9C-101B-9397-08002B2CF9AE}" pid="8" name="ICV">
    <vt:lpwstr>CE0618F26EFA4156844DC5E9F10F008E_12</vt:lpwstr>
  </property>
</Properties>
</file>