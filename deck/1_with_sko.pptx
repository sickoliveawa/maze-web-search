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84" r:id="rId4"/>
    <p:sldId id="257" r:id="rId5"/>
    <p:sldId id="386" r:id="rId6"/>
    <p:sldId id="387" r:id="rId7"/>
    <p:sldId id="388" r:id="rId8"/>
    <p:sldId id="389" r:id="rId9"/>
    <p:sldId id="390" r:id="rId10"/>
    <p:sldId id="391" r:id="rId14"/>
    <p:sldId id="392" r:id="rId15"/>
    <p:sldId id="393" r:id="rId16"/>
    <p:sldId id="394" r:id="rId17"/>
    <p:sldId id="395" r:id="rId18"/>
    <p:sldId id="396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34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934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55609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7660C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7660C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>
                <a:latin typeface="Tahoma" panose="020B0604030504040204"/>
                <a:cs typeface="Tahoma" panose="020B0604030504040204"/>
              </a:rPr>
            </a:fld>
            <a:endParaRPr spc="-5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55609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7660C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7660C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>
                <a:latin typeface="Tahoma" panose="020B0604030504040204"/>
                <a:cs typeface="Tahoma" panose="020B0604030504040204"/>
              </a:rPr>
            </a:fld>
            <a:endParaRPr spc="-5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453374"/>
            <a:ext cx="12191999" cy="40462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11033" y="6515858"/>
            <a:ext cx="3651504" cy="342137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55609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7660C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7660C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>
                <a:latin typeface="Tahoma" panose="020B0604030504040204"/>
                <a:cs typeface="Tahoma" panose="020B0604030504040204"/>
              </a:rPr>
            </a:fld>
            <a:endParaRPr spc="-5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155609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7660C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7660C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>
                <a:latin typeface="Tahoma" panose="020B0604030504040204"/>
                <a:cs typeface="Tahoma" panose="020B0604030504040204"/>
              </a:rPr>
            </a:fld>
            <a:endParaRPr spc="-5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7660C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17660C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>
                <a:latin typeface="Tahoma" panose="020B0604030504040204"/>
                <a:cs typeface="Tahoma" panose="020B0604030504040204"/>
              </a:rPr>
            </a:fld>
            <a:endParaRPr spc="-5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6453374"/>
            <a:ext cx="12191999" cy="40462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511033" y="6515858"/>
            <a:ext cx="3651504" cy="3421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2244" y="253110"/>
            <a:ext cx="124460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155609"/>
                </a:solidFill>
                <a:latin typeface="微软雅黑" panose="020B0503020204020204" charset="-122"/>
                <a:cs typeface="微软雅黑" panose="020B050302020402020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8381" y="1171137"/>
            <a:ext cx="10546080" cy="4722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7660C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17706" y="6510051"/>
            <a:ext cx="218439" cy="2750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17660C"/>
                </a:solidFill>
                <a:latin typeface="Verdana" panose="020B0604030504040204"/>
                <a:cs typeface="Verdana" panose="020B0604030504040204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spc="-50" dirty="0">
                <a:latin typeface="Tahoma" panose="020B0604030504040204"/>
                <a:cs typeface="Tahoma" panose="020B0604030504040204"/>
              </a:rPr>
            </a:fld>
            <a:endParaRPr spc="-50" dirty="0">
              <a:latin typeface="Tahoma" panose="020B0604030504040204"/>
              <a:cs typeface="Tahoma" panose="020B060403050404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oleObject" Target="../embeddings/oleObject1.bin"/><Relationship Id="rId7" Type="http://schemas.openxmlformats.org/officeDocument/2006/relationships/image" Target="../media/image8.wmf"/><Relationship Id="rId8" Type="http://schemas.openxmlformats.org/officeDocument/2006/relationships/slideLayout" Target="../slideLayouts/slideLayout5.xml"/><Relationship Id="rId9" Type="http://schemas.openxmlformats.org/officeDocument/2006/relationships/vmlDrawing" Target="../drawings/vmlDrawing1.v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6" Type="http://schemas.openxmlformats.org/officeDocument/2006/relationships/image" Target="../media/image8.wmf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5.xml"/><Relationship Id="rId9" Type="http://schemas.openxmlformats.org/officeDocument/2006/relationships/vmlDrawing" Target="../drawings/vmlDrawing2.v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78483" y="5135981"/>
            <a:ext cx="3469004" cy="57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kumimoji="0" sz="1400" b="0" i="0" u="none" strike="noStrike" kern="0" cap="none" spc="-20" normalizeH="0" baseline="0" noProof="1" dirty="0">
                <a:solidFill>
                  <a:srgbClr val="1F7905"/>
                </a:solidFill>
                <a:latin typeface="Consolas" panose="020B0609020204030204" charset="0"/>
                <a:ea typeface="微软雅黑" panose="020B0503020204020204" charset="-122"/>
                <a:cs typeface="Consolas" panose="020B0609020204030204" charset="0"/>
              </a:rPr>
              <a:t>How will I ever get out of this labyrinth!</a:t>
            </a:r>
            <a:endParaRPr kumimoji="0" sz="1400" b="0" i="0" u="none" strike="noStrike" kern="0" cap="none" spc="-20" normalizeH="0" baseline="0" noProof="1" dirty="0">
              <a:solidFill>
                <a:srgbClr val="1F7905"/>
              </a:solidFill>
              <a:latin typeface="Consolas" panose="020B0609020204030204" charset="0"/>
              <a:ea typeface="微软雅黑" panose="020B0503020204020204" charset="-122"/>
              <a:cs typeface="Consolas" panose="020B060902020403020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16950" y="1385570"/>
            <a:ext cx="2107565" cy="1113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</a:pPr>
            <a:r>
              <a:rPr lang="en-US" altLang="zh-CN" sz="2600" b="1" spc="-25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DSA</a:t>
            </a:r>
            <a:r>
              <a:rPr lang="zh-CN" altLang="en-US" sz="2600" b="1" spc="-25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课程设计</a:t>
            </a:r>
            <a:endParaRPr sz="2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5080" algn="r">
              <a:lnSpc>
                <a:spcPct val="100000"/>
              </a:lnSpc>
              <a:spcBef>
                <a:spcPts val="2825"/>
              </a:spcBef>
            </a:pPr>
            <a:r>
              <a:rPr lang="zh-CN" altLang="en-US" sz="2200" b="1" spc="-50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走迷宫</a:t>
            </a:r>
            <a:endParaRPr lang="zh-CN" altLang="en-US" sz="2200" b="1" spc="-50" dirty="0">
              <a:solidFill>
                <a:srgbClr val="1766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6291" y="4101464"/>
            <a:ext cx="3402965" cy="659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indent="0" eaLnBrk="1" fontAlgn="auto" latinLnBrk="0" hangingPunct="1">
              <a:lnSpc>
                <a:spcPct val="150000"/>
              </a:lnSpc>
              <a:spcBef>
                <a:spcPts val="100"/>
              </a:spcBef>
            </a:pPr>
            <a:r>
              <a:rPr kumimoji="0" sz="1400" b="0" i="0" u="none" strike="noStrike" kern="0" cap="none" spc="-20" normalizeH="0" baseline="0" noProof="1" dirty="0">
                <a:solidFill>
                  <a:srgbClr val="1F790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无需建造一座迷宫，因为整个宇宙本身就是一座迷宫。</a:t>
            </a:r>
            <a:endParaRPr kumimoji="0" sz="1400" b="0" i="0" u="none" strike="noStrike" kern="0" cap="none" spc="-20" normalizeH="0" baseline="0" noProof="1" dirty="0">
              <a:solidFill>
                <a:srgbClr val="1F790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9133" y="5103621"/>
            <a:ext cx="19475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17660A"/>
                </a:solidFill>
                <a:latin typeface="Palatino Linotype" panose="02040502050505030304"/>
                <a:cs typeface="Palatino Linotype" panose="02040502050505030304"/>
              </a:rPr>
              <a:t>DSA</a:t>
            </a:r>
            <a:r>
              <a:rPr sz="1800" spc="-114" dirty="0">
                <a:solidFill>
                  <a:srgbClr val="17660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00" dirty="0">
                <a:solidFill>
                  <a:srgbClr val="17660A"/>
                </a:solidFill>
                <a:latin typeface="Palatino Linotype" panose="02040502050505030304"/>
                <a:cs typeface="Palatino Linotype" panose="02040502050505030304"/>
              </a:rPr>
              <a:t>@</a:t>
            </a:r>
            <a:r>
              <a:rPr sz="1800" spc="-50" dirty="0">
                <a:solidFill>
                  <a:srgbClr val="17660A"/>
                </a:solidFill>
                <a:latin typeface="Palatino Linotype" panose="02040502050505030304"/>
                <a:cs typeface="Palatino Linotype" panose="02040502050505030304"/>
              </a:rPr>
              <a:t> </a:t>
            </a:r>
            <a:r>
              <a:rPr sz="1800" dirty="0">
                <a:solidFill>
                  <a:srgbClr val="17660A"/>
                </a:solidFill>
                <a:latin typeface="Palatino Linotype" panose="02040502050505030304"/>
                <a:cs typeface="Palatino Linotype" panose="02040502050505030304"/>
              </a:rPr>
              <a:t>Spring</a:t>
            </a:r>
            <a:r>
              <a:rPr sz="1800" spc="-20" dirty="0">
                <a:solidFill>
                  <a:srgbClr val="17660A"/>
                </a:solidFill>
                <a:latin typeface="Palatino Linotype" panose="02040502050505030304"/>
                <a:cs typeface="Palatino Linotype" panose="02040502050505030304"/>
              </a:rPr>
              <a:t> 2026</a:t>
            </a:r>
            <a:endParaRPr sz="1800">
              <a:latin typeface="Palatino Linotype" panose="02040502050505030304"/>
              <a:cs typeface="Palatino Linotype" panose="02040502050505030304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7772400" y="3585210"/>
            <a:ext cx="2941320" cy="861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0" marR="5080" indent="0" algn="r" eaLnBrk="1" fontAlgn="auto" latinLnBrk="0" hangingPunct="1">
              <a:lnSpc>
                <a:spcPct val="100000"/>
              </a:lnSpc>
              <a:spcBef>
                <a:spcPts val="2300"/>
              </a:spcBef>
            </a:pPr>
            <a:r>
              <a:rPr lang="zh-CN" altLang="en-US" sz="1800" b="0" spc="-50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组员：</a:t>
            </a:r>
            <a:r>
              <a:rPr lang="zh-CN" altLang="en-US" sz="1800" b="0" spc="-50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冯卓源</a:t>
            </a:r>
            <a:r>
              <a:rPr lang="zh-CN" altLang="en-US" sz="1800" b="0" spc="-50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altLang="en-US" sz="1800" b="0" spc="-50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李斯羽</a:t>
            </a:r>
            <a:endParaRPr lang="zh-CN" altLang="en-US" sz="1800" b="0" spc="-50" dirty="0">
              <a:solidFill>
                <a:srgbClr val="1766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5080" indent="0" algn="r" eaLnBrk="1" fontAlgn="auto" latinLnBrk="0" hangingPunct="1">
              <a:lnSpc>
                <a:spcPct val="100000"/>
              </a:lnSpc>
              <a:spcBef>
                <a:spcPts val="2300"/>
              </a:spcBef>
            </a:pPr>
            <a:r>
              <a:rPr lang="zh-CN" altLang="en-US" sz="1800" b="0" spc="-50" dirty="0">
                <a:solidFill>
                  <a:srgbClr val="17660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汇报人：李斯羽</a:t>
            </a:r>
            <a:endParaRPr lang="zh-CN" altLang="en-US" sz="1800" b="0" spc="-50" dirty="0">
              <a:solidFill>
                <a:srgbClr val="17660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1758"/>
          <a:stretch>
            <a:fillRect/>
          </a:stretch>
        </p:blipFill>
        <p:spPr>
          <a:xfrm>
            <a:off x="1066800" y="381000"/>
            <a:ext cx="4257675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6090" y="1119505"/>
            <a:ext cx="8545830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</a:t>
            </a:r>
            <a:r>
              <a:rPr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迷宫生成、路径搜索、图形化演示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60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lang="zh-CN" altLang="en-US"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随机矩形迷宫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59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lang="zh-CN" altLang="en-US" sz="2000" b="1" spc="-1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蒙德里安名画迷宫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9455" lvl="1" indent="-280035">
              <a:lnSpc>
                <a:spcPct val="100000"/>
              </a:lnSpc>
              <a:spcBef>
                <a:spcPts val="1565"/>
              </a:spcBef>
              <a:buFont typeface="Consolas" panose="020B0609020204030204"/>
              <a:buChar char="-"/>
              <a:tabLst>
                <a:tab pos="719455" algn="l"/>
              </a:tabLst>
            </a:pPr>
            <a:r>
              <a:rPr lang="zh-CN" altLang="en-US" sz="2000" b="1" spc="-1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圆形迷宫</a:t>
            </a:r>
            <a:r>
              <a:rPr sz="2000" b="1" spc="-1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spc="-2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090" y="3465195"/>
            <a:ext cx="9416415" cy="828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altLang="en-US"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扩展内容</a:t>
            </a:r>
            <a:r>
              <a:rPr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kumimoji="0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kumimoji="0" sz="2000" b="1" i="0" u="none" strike="noStrike" kern="0" cap="none" spc="-10" normalizeH="0" baseline="0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元胞自动机（CA）和进化策略</a:t>
            </a:r>
            <a:r>
              <a:rPr kumimoji="0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自动生成迷宫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40690">
              <a:lnSpc>
                <a:spcPct val="100000"/>
              </a:lnSpc>
              <a:spcBef>
                <a:spcPts val="1555"/>
              </a:spcBef>
            </a:pPr>
            <a:r>
              <a:rPr sz="2000" spc="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en-US" altLang="en-US" sz="2000" spc="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在多族</a:t>
            </a:r>
            <a:r>
              <a:rPr kumimoji="0" lang="en-US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</a:t>
            </a:r>
            <a:r>
              <a:rPr kumimoji="0" lang="en-US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规则空间中搜索</a:t>
            </a:r>
            <a:endParaRPr kumimoji="0" sz="2000" b="1" i="0" u="none" strike="noStrike" kern="0" cap="none" spc="-2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6090" y="4480560"/>
            <a:ext cx="8442960" cy="1345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en-US" altLang="en-US" sz="200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 spc="-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候选规则先演化出二值网格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600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zh-CN" altLang="en-US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建立打分规则判断该网格有多像迷宫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59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zh-CN" altLang="en-US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把分数作为进化策略的适应度，保留高分规则、变异并产生下一代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50" dirty="0">
                <a:latin typeface="Tahoma" panose="020B0604030504040204"/>
                <a:cs typeface="Tahoma" panose="020B0604030504040204"/>
              </a:rPr>
              <a:t>1</a:t>
            </a:r>
            <a:endParaRPr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22409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设计梗概</a:t>
            </a:r>
            <a:endParaRPr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object 15"/>
          <p:cNvSpPr txBox="1">
            <a:spLocks noGrp="1"/>
          </p:cNvSpPr>
          <p:nvPr/>
        </p:nvSpPr>
        <p:spPr>
          <a:xfrm>
            <a:off x="7614031" y="6596823"/>
            <a:ext cx="3379977" cy="1333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sz="1000" dirty="0"/>
              <a:t>Data Structures &amp; Algorithms, School of AI, UCAS</a:t>
            </a:r>
            <a:endParaRPr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6090" y="1119505"/>
            <a:ext cx="8545830" cy="3380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indent="-288925">
              <a:lnSpc>
                <a:spcPct val="100000"/>
              </a:lnSpc>
              <a:spcBef>
                <a:spcPts val="105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lang="zh-CN" altLang="en-US" sz="2000" b="1" spc="-2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需要解决以下问题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60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zh-CN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使用合适的数据结构表示墙、通路、入口和出口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59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zh-CN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自动生成一个连通的随机迷宫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9455" lvl="1" indent="-280035">
              <a:lnSpc>
                <a:spcPct val="100000"/>
              </a:lnSpc>
              <a:spcBef>
                <a:spcPts val="1565"/>
              </a:spcBef>
              <a:buFont typeface="Consolas" panose="020B0609020204030204"/>
              <a:buChar char="-"/>
              <a:tabLst>
                <a:tab pos="719455" algn="l"/>
              </a:tabLst>
            </a:pPr>
            <a:r>
              <a:rPr kumimoji="0" lang="zh-CN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</a:t>
            </a:r>
            <a:r>
              <a:rPr kumimoji="0" sz="2000" b="1" i="0" u="none" strike="noStrike" kern="0" cap="none" spc="-10" normalizeH="0" baseline="0" noProof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步数最少</a:t>
            </a:r>
            <a:r>
              <a:rPr kumimoji="0" lang="zh-CN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的路径</a:t>
            </a:r>
            <a:endParaRPr kumimoji="0" lang="zh-CN" sz="2000" b="1" i="0" u="none" strike="noStrike" kern="0" cap="none" spc="-1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9455" lvl="1" indent="-280035">
              <a:lnSpc>
                <a:spcPct val="100000"/>
              </a:lnSpc>
              <a:spcBef>
                <a:spcPts val="1565"/>
              </a:spcBef>
              <a:buFont typeface="Consolas" panose="020B0609020204030204"/>
              <a:buChar char="-"/>
              <a:tabLst>
                <a:tab pos="719455" algn="l"/>
              </a:tabLst>
            </a:pPr>
            <a:r>
              <a:rPr kumimoji="0" lang="zh-CN" altLang="en-US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通过图形界面动态展示搜索顺序和最终路径</a:t>
            </a:r>
            <a:endParaRPr kumimoji="0" lang="zh-CN" altLang="en-US" sz="2000" b="1" i="0" u="none" strike="noStrike" kern="0" cap="none" spc="-1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19455" lvl="1" indent="-280035">
              <a:lnSpc>
                <a:spcPct val="100000"/>
              </a:lnSpc>
              <a:spcBef>
                <a:spcPts val="1565"/>
              </a:spcBef>
              <a:buFont typeface="Consolas" panose="020B0609020204030204"/>
              <a:buChar char="-"/>
              <a:tabLst>
                <a:tab pos="719455" algn="l"/>
              </a:tabLst>
            </a:pPr>
            <a:r>
              <a:rPr kumimoji="0" lang="zh-CN" altLang="en-US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将蒙德里安几何画作拆分成多个房间，保证路径至少经过三个房间</a:t>
            </a:r>
            <a:endParaRPr kumimoji="0" lang="zh-CN" altLang="en-US" sz="2000" b="1" i="0" u="none" strike="noStrike" kern="0" cap="none" spc="-1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719455" lvl="1" indent="-280035">
              <a:lnSpc>
                <a:spcPct val="100000"/>
              </a:lnSpc>
              <a:spcBef>
                <a:spcPts val="1565"/>
              </a:spcBef>
              <a:buFont typeface="Consolas" panose="020B0609020204030204"/>
              <a:buChar char="-"/>
              <a:tabLst>
                <a:tab pos="719455" algn="l"/>
              </a:tabLst>
            </a:pPr>
            <a:r>
              <a:rPr kumimoji="0" lang="zh-CN" altLang="en-US" sz="2000" b="1" i="0" u="none" strike="noStrike" kern="0" cap="none" spc="-1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生成圆形等非矩形迷宫，并支持出口位于迷宫内部</a:t>
            </a:r>
            <a:endParaRPr kumimoji="0" lang="zh-CN" altLang="en-US" sz="2000" b="1" i="0" u="none" strike="noStrike" kern="0" cap="none" spc="-1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xfrm>
            <a:off x="11617706" y="6510051"/>
            <a:ext cx="218439" cy="259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n-US" spc="-50" dirty="0">
                <a:latin typeface="Tahoma" panose="020B0604030504040204"/>
                <a:cs typeface="Tahoma" panose="020B0604030504040204"/>
              </a:rPr>
              <a:t>2</a:t>
            </a:r>
            <a:endParaRPr lang="en-US"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22409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</a:t>
            </a:r>
            <a:endParaRPr lang="zh-CN" altLang="en-US"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object 15"/>
          <p:cNvSpPr txBox="1">
            <a:spLocks noGrp="1"/>
          </p:cNvSpPr>
          <p:nvPr/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/>
              <p:nvPr/>
            </p:nvSpPr>
            <p:spPr>
              <a:xfrm>
                <a:off x="466090" y="1119505"/>
                <a:ext cx="10854690" cy="339280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01625" indent="-288925">
                  <a:lnSpc>
                    <a:spcPct val="100000"/>
                  </a:lnSpc>
                  <a:spcBef>
                    <a:spcPts val="105"/>
                  </a:spcBef>
                  <a:buFont typeface="Wingdings" panose="05000000000000000000"/>
                  <a:buChar char=""/>
                  <a:tabLst>
                    <a:tab pos="301625" algn="l"/>
                  </a:tabLst>
                </a:pPr>
                <a:r>
                  <a:rPr lang="zh-CN" altLang="en-US" sz="2000" b="1" spc="-20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问题建模</a:t>
                </a:r>
                <a:endParaRPr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720725" lvl="1" indent="-280035">
                  <a:lnSpc>
                    <a:spcPct val="100000"/>
                  </a:lnSpc>
                  <a:spcBef>
                    <a:spcPts val="1605"/>
                  </a:spcBef>
                  <a:buFont typeface="Consolas" panose="020B0609020204030204"/>
                  <a:buChar char="-"/>
                  <a:tabLst>
                    <a:tab pos="720725" algn="l"/>
                  </a:tabLst>
                </a:pP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迷宫可以抽象为图</a:t>
                </a:r>
                <a:r>
                  <a:rPr kumimoji="0" lang="en-US" altLang="zh-CN" sz="2000" b="0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微软雅黑" panose="020B0503020204020204" charset="-122"/>
                        <a:cs typeface="Latin Modern Math" panose="02000503000000000000" charset="0"/>
                      </a:rPr>
                      <m:t>𝐺</m:t>
                    </m:r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MS Mincho" charset="0"/>
                        <a:cs typeface="Latin Modern Math" panose="02000503000000000000" charset="0"/>
                      </a:rPr>
                      <m:t>=(</m:t>
                    </m:r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微软雅黑" panose="020B0503020204020204" charset="-122"/>
                        <a:cs typeface="Latin Modern Math" panose="02000503000000000000" charset="0"/>
                      </a:rPr>
                      <m:t>𝑉</m:t>
                    </m:r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MS Mincho" charset="0"/>
                        <a:cs typeface="Latin Modern Math" panose="02000503000000000000" charset="0"/>
                      </a:rPr>
                      <m:t>, </m:t>
                    </m:r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微软雅黑" panose="020B0503020204020204" charset="-122"/>
                        <a:cs typeface="Latin Modern Math" panose="02000503000000000000" charset="0"/>
                      </a:rPr>
                      <m:t>𝐸</m:t>
                    </m:r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MS Mincho" charset="0"/>
                        <a:cs typeface="Latin Modern Math" panose="02000503000000000000" charset="0"/>
                      </a:rPr>
                      <m:t>)</m:t>
                    </m:r>
                  </m:oMath>
                </a14:m>
                <a:r>
                  <a:rPr kumimoji="0" lang="en-US" altLang="zh-CN" sz="2000" b="0" i="1" u="none" strike="noStrike" kern="0" cap="none" spc="-20" normalizeH="0" baseline="0" noProof="1" dirty="0">
                    <a:solidFill>
                      <a:srgbClr val="17660C"/>
                    </a:solidFill>
                    <a:uFillTx/>
                    <a:latin typeface="Latin Modern Math" panose="02000503000000000000" charset="0"/>
                    <a:ea typeface="MS Mincho" charset="0"/>
                    <a:cs typeface="Latin Modern Math" panose="02000503000000000000" charset="0"/>
                  </a:rPr>
                  <a:t> </a:t>
                </a:r>
                <a:endPara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719455" lvl="1" indent="-280035">
                  <a:lnSpc>
                    <a:spcPct val="100000"/>
                  </a:lnSpc>
                  <a:spcBef>
                    <a:spcPts val="1565"/>
                  </a:spcBef>
                  <a:buFont typeface="Consolas" panose="020B0609020204030204"/>
                  <a:buChar char="-"/>
                  <a:tabLst>
                    <a:tab pos="719455" algn="l"/>
                  </a:tabLst>
                </a:pP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每个可通行位置对应一个顶点，相邻且连通的位置之间存在一条边</a:t>
                </a:r>
                <a:endParaRPr kumimoji="0" lang="zh-CN" altLang="en-US" sz="2000" b="1" i="0" u="none" strike="noStrike" kern="0" cap="none" spc="-15" normalizeH="0" baseline="0" noProof="1" dirty="0">
                  <a:solidFill>
                    <a:srgbClr val="1766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719455" lvl="1" indent="-280035">
                  <a:lnSpc>
                    <a:spcPct val="100000"/>
                  </a:lnSpc>
                  <a:spcBef>
                    <a:spcPts val="1565"/>
                  </a:spcBef>
                  <a:buFont typeface="Consolas" panose="020B0609020204030204"/>
                  <a:buChar char="-"/>
                  <a:tabLst>
                    <a:tab pos="719455" algn="l"/>
                  </a:tabLst>
                </a:pP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寻路问题就是在图中寻找一条从起点</a:t>
                </a:r>
                <a14:m>
                  <m:oMath xmlns:m="http://schemas.openxmlformats.org/officeDocument/2006/math"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MS Mincho" charset="0"/>
                        <a:cs typeface="Latin Modern Math" panose="02000503000000000000" charset="0"/>
                      </a:rPr>
                      <m:t> </m:t>
                    </m:r>
                    <m: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MS Mincho" charset="0"/>
                        <a:cs typeface="Latin Modern Math" panose="02000503000000000000" charset="0"/>
                      </a:rPr>
                      <m:t>𝑆</m:t>
                    </m:r>
                    <m:r>
                      <m:rPr>
                        <m:brk/>
                      </m:rPr>
                      <a:rPr kumimoji="0" lang="en-US" altLang="zh-CN" sz="2000" b="0" i="1" u="none" strike="noStrike" kern="0" cap="none" spc="0" normalizeH="0" baseline="0" noProof="1" dirty="0">
                        <a:solidFill>
                          <a:srgbClr val="17660C"/>
                        </a:solidFill>
                        <a:uFillTx/>
                        <a:latin typeface="Latin Modern Math" panose="02000503000000000000" charset="0"/>
                        <a:ea typeface="MS Mincho" charset="0"/>
                        <a:cs typeface="Latin Modern Math" panose="02000503000000000000" charset="0"/>
                      </a:rPr>
                      <m:t> </m:t>
                    </m:r>
                  </m:oMath>
                </a14:m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到终点</a:t>
                </a:r>
                <a:r>
                  <a:rPr kumimoji="0" lang="en-US" altLang="zh-CN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kumimoji="0" lang="en-US" altLang="zh-CN" sz="2000" b="0" i="1" u="none" strike="noStrike" kern="0" cap="none" spc="0" normalizeH="0" baseline="0" noProof="1" dirty="0">
                    <a:solidFill>
                      <a:srgbClr val="17660C"/>
                    </a:solidFill>
                    <a:uFillTx/>
                    <a:latin typeface="Latin Modern Math" panose="02000503000000000000" charset="0"/>
                    <a:ea typeface="MS Mincho" charset="0"/>
                    <a:cs typeface="Latin Modern Math" panose="02000503000000000000" charset="0"/>
                  </a:rPr>
                  <a:t>E </a:t>
                </a: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的路径。</a:t>
                </a:r>
                <a:endParaRPr kumimoji="0" lang="zh-CN" altLang="en-US" sz="2000" b="1" i="0" u="none" strike="noStrike" kern="0" cap="none" spc="-15" normalizeH="0" baseline="0" noProof="1" dirty="0">
                  <a:solidFill>
                    <a:srgbClr val="1766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719455" lvl="1" indent="-280035">
                  <a:lnSpc>
                    <a:spcPct val="100000"/>
                  </a:lnSpc>
                  <a:spcBef>
                    <a:spcPts val="1565"/>
                  </a:spcBef>
                  <a:buFont typeface="Consolas" panose="020B0609020204030204"/>
                  <a:buChar char="-"/>
                  <a:tabLst>
                    <a:tab pos="719455" algn="l"/>
                  </a:tabLst>
                </a:pP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矩形迷宫中的顶点由 (</a:t>
                </a:r>
                <a:r>
                  <a:rPr kumimoji="0" lang="en-US" altLang="zh-CN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row, col) </a:t>
                </a: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表示，相邻关系是</a:t>
                </a:r>
                <a:r>
                  <a:rPr kumimoji="0" sz="2000" b="1" i="0" u="none" strike="noStrike" kern="0" cap="none" spc="-10" normalizeH="0" baseline="0" noProof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上、右、下、左</a:t>
                </a: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四个方向</a:t>
                </a:r>
                <a:endParaRPr kumimoji="0" lang="zh-CN" altLang="en-US" sz="2000" b="1" i="0" u="none" strike="noStrike" kern="0" cap="none" spc="-15" normalizeH="0" baseline="0" noProof="1" dirty="0">
                  <a:solidFill>
                    <a:srgbClr val="1766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  <a:p>
                <a:pPr marL="719455" lvl="1" indent="-280035">
                  <a:lnSpc>
                    <a:spcPct val="100000"/>
                  </a:lnSpc>
                  <a:spcBef>
                    <a:spcPts val="1565"/>
                  </a:spcBef>
                  <a:buFont typeface="Consolas" panose="020B0609020204030204"/>
                  <a:buChar char="-"/>
                  <a:tabLst>
                    <a:tab pos="719455" algn="l"/>
                  </a:tabLst>
                </a:pP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圆形迷宫，将顶点改为 (</a:t>
                </a:r>
                <a:r>
                  <a:rPr kumimoji="0" lang="en-US" altLang="zh-CN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ring, sector)，</a:t>
                </a: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分别表示环号和扇区号</a:t>
                </a:r>
                <a:endParaRPr kumimoji="0" lang="zh-CN" altLang="en-US" sz="2000" b="1" i="0" u="none" strike="noStrike" kern="0" cap="none" spc="-15" normalizeH="0" baseline="0" noProof="1" dirty="0">
                  <a:solidFill>
                    <a:srgbClr val="1766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marL="719455" lvl="1" indent="-280035">
                  <a:lnSpc>
                    <a:spcPct val="100000"/>
                  </a:lnSpc>
                  <a:spcBef>
                    <a:spcPts val="1565"/>
                  </a:spcBef>
                  <a:buFont typeface="Consolas" panose="020B0609020204030204"/>
                  <a:buChar char="-"/>
                  <a:tabLst>
                    <a:tab pos="719455" algn="l"/>
                  </a:tabLst>
                </a:pPr>
                <a:r>
                  <a:rPr kumimoji="0" lang="zh-CN" altLang="en-US" sz="2000" b="1" i="0" u="none" strike="noStrike" kern="0" cap="none" spc="-15" normalizeH="0" baseline="0" noProof="1" dirty="0">
                    <a:solidFill>
                      <a:srgbClr val="17660C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同环相邻扇区以及内外环对应扇区之间构成边</a:t>
                </a:r>
                <a:endParaRPr kumimoji="0" lang="zh-CN" altLang="en-US" sz="2000" b="1" i="0" u="none" strike="noStrike" kern="0" cap="none" spc="-15" normalizeH="0" baseline="0" noProof="1" dirty="0">
                  <a:solidFill>
                    <a:srgbClr val="17660C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090" y="1119505"/>
                <a:ext cx="10854690" cy="3392805"/>
              </a:xfrm>
              <a:prstGeom prst="rect">
                <a:avLst/>
              </a:prstGeom>
              <a:blipFill rotWithShape="1">
                <a:blip r:embed="rId5"/>
                <a:stretch>
                  <a:fillRect t="-2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xfrm>
            <a:off x="11617706" y="6510051"/>
            <a:ext cx="218439" cy="259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n-US" spc="-50" dirty="0">
                <a:latin typeface="Tahoma" panose="020B0604030504040204"/>
                <a:cs typeface="Tahoma" panose="020B0604030504040204"/>
              </a:rPr>
              <a:t>3</a:t>
            </a:r>
            <a:endParaRPr lang="en-US"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22409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</a:t>
            </a:r>
            <a:endParaRPr lang="zh-CN" altLang="en-US"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object 15"/>
          <p:cNvSpPr txBox="1">
            <a:spLocks noGrp="1"/>
          </p:cNvSpPr>
          <p:nvPr/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6" imgW="114300" imgH="215900" progId="Equation.KSEE3">
                  <p:embed/>
                </p:oleObj>
              </mc:Choice>
              <mc:Fallback>
                <p:oleObj name="" r:id="rId6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7620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xfrm>
            <a:off x="11617706" y="6510051"/>
            <a:ext cx="218439" cy="2590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lang="en-US" spc="-50" dirty="0">
                <a:latin typeface="Tahoma" panose="020B0604030504040204"/>
                <a:cs typeface="Tahoma" panose="020B0604030504040204"/>
              </a:rPr>
              <a:t>3</a:t>
            </a:r>
            <a:endParaRPr lang="en-US"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477837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数据结构设计与实现</a:t>
            </a:r>
            <a:endParaRPr lang="zh-CN" altLang="en-US"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5" imgW="114300" imgH="215900" progId="Equation.KSEE3">
                  <p:embed/>
                </p:oleObj>
              </mc:Choice>
              <mc:Fallback>
                <p:oleObj name="" r:id="rId5" imgW="1143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object 15"/>
          <p:cNvSpPr txBox="1">
            <a:spLocks noGrp="1"/>
          </p:cNvSpPr>
          <p:nvPr/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  <p:sp>
        <p:nvSpPr>
          <p:cNvPr id="11" name="object 9"/>
          <p:cNvSpPr txBox="1"/>
          <p:nvPr/>
        </p:nvSpPr>
        <p:spPr>
          <a:xfrm>
            <a:off x="466090" y="1119505"/>
            <a:ext cx="8545830" cy="821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C++ 控制台版本使用 vector&lt;string&gt; 保存迷宫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网页版本使用二维数组保存每个格子的状态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bject 11"/>
          <p:cNvSpPr txBox="1"/>
          <p:nvPr/>
        </p:nvSpPr>
        <p:spPr>
          <a:xfrm>
            <a:off x="466090" y="2118360"/>
            <a:ext cx="8442960" cy="1858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</a:t>
            </a:r>
            <a:r>
              <a:rPr lang="en-US" altLang="en-US" sz="2000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000" b="1" spc="-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Point { r, c }：</a:t>
            </a:r>
            <a:r>
              <a:rPr lang="zh-CN" altLang="en-US" sz="2000" b="1" spc="-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表示矩形迷宫中的坐标</a:t>
            </a:r>
            <a:r>
              <a:rPr lang="zh-CN" altLang="en-US" sz="2000" b="1" spc="-5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值网格</a:t>
            </a:r>
            <a:endParaRPr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600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en-US" altLang="zh-CN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grid：</a:t>
            </a:r>
            <a:r>
              <a:rPr kumimoji="0" lang="zh-CN" altLang="en-US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二维迷宫矩阵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59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en-US" altLang="zh-CN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visited / seen：</a:t>
            </a:r>
            <a:r>
              <a:rPr kumimoji="0" lang="zh-CN" altLang="en-US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记录顶点是否已经访问，避免重复搜索</a:t>
            </a:r>
            <a:endParaRPr kumimoji="0" lang="zh-CN" altLang="en-US" sz="2000" b="1" i="0" u="none" strike="noStrike" kern="0" cap="none" spc="-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720725" lvl="1" indent="-280035">
              <a:lnSpc>
                <a:spcPct val="100000"/>
              </a:lnSpc>
              <a:spcBef>
                <a:spcPts val="1595"/>
              </a:spcBef>
              <a:buFont typeface="Consolas" panose="020B0609020204030204"/>
              <a:buChar char="-"/>
              <a:tabLst>
                <a:tab pos="720725" algn="l"/>
              </a:tabLst>
            </a:pPr>
            <a:r>
              <a:rPr kumimoji="0" lang="en-US" altLang="zh-CN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 </a:t>
            </a:r>
            <a:r>
              <a:rPr kumimoji="0" lang="zh-CN" altLang="en-US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kumimoji="0" lang="en-US" altLang="zh-CN" sz="2000" b="1" i="0" u="none" strike="noStrike" kern="0" cap="none" spc="-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BFS...</a:t>
            </a:r>
            <a:endParaRPr kumimoji="0" lang="en-US" altLang="zh-CN" sz="2000" b="1" i="0" u="none" strike="noStrike" kern="0" cap="none" spc="-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rcRect r="13902"/>
          <a:stretch>
            <a:fillRect/>
          </a:stretch>
        </p:blipFill>
        <p:spPr>
          <a:xfrm>
            <a:off x="7620000" y="1295400"/>
            <a:ext cx="4211955" cy="4693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6090" y="1119505"/>
            <a:ext cx="11181080" cy="3822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时间复杂度与空间复杂度分析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 </a:t>
            </a:r>
            <a:r>
              <a:rPr kumimoji="0" lang="zh-CN" altLang="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记迷宫行数为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，列数为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，可通行顶点总数为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，相邻可通行顶点之间的连通边数记为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</a:t>
            </a:r>
            <a:endParaRPr kumimoji="0" lang="en-US" altLang="zh-CN" sz="2000" b="1" i="0" u="none" strike="noStrike" kern="0" cap="none" spc="-2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 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考虑到顶点至多连接四条边，因此二者同阶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迷宫生成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 </a:t>
            </a:r>
            <a:r>
              <a:rPr kumimoji="0" lang="en-US" altLang="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DFS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生成迷宫时，每个候选单元最多被访问一次，时空复杂度均为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O(RC)</a:t>
            </a:r>
            <a:endParaRPr kumimoji="0" lang="en-US" altLang="zh-CN" sz="2000" b="1" i="0" u="none" strike="noStrike" kern="0" cap="none" spc="-2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寻路与回溯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-  B</a:t>
            </a:r>
            <a:r>
              <a:rPr kumimoji="0" lang="en-US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FS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的时空复杂度仅与路径长度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有关，均为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O(L)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indent="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</a:pP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50" dirty="0">
                <a:latin typeface="Tahoma" panose="020B0604030504040204"/>
                <a:cs typeface="Tahoma" panose="020B0604030504040204"/>
              </a:rPr>
              <a:t>1</a:t>
            </a:r>
            <a:endParaRPr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22409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复杂度分析</a:t>
            </a:r>
            <a:endParaRPr lang="en-US" altLang="zh-CN"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object 15"/>
          <p:cNvSpPr txBox="1">
            <a:spLocks noGrp="1"/>
          </p:cNvSpPr>
          <p:nvPr/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6090" y="1119505"/>
            <a:ext cx="11181080" cy="3321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算法结果与比较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 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在同一迷宫上，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BFS 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得到的路径长度不大于 </a:t>
            </a: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DFS</a:t>
            </a:r>
            <a:endParaRPr kumimoji="0" lang="en-US" altLang="zh-CN" sz="2000" b="1" i="0" u="none" strike="noStrike" kern="0" cap="none" spc="-2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 </a:t>
            </a:r>
            <a:r>
              <a:rPr kumimoji="0" lang="zh-CN" altLang="en-US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蒙德里安迷宫验证了普通图搜索可以应用的实际情况</a:t>
            </a:r>
            <a:endParaRPr kumimoji="0" lang="zh-CN" altLang="en-US" sz="2000" b="1" i="0" u="none" strike="noStrike" kern="0" cap="none" spc="-2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</a:t>
            </a: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圆形迷宫验证了邻接关系改变后，同一套搜索思想可以用于更广义的非矩形结构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01625" indent="-288925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Char char=""/>
              <a:tabLst>
                <a:tab pos="301625" algn="l"/>
              </a:tab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存在的不足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457200" eaLnBrk="1" fontAlgn="auto" latinLnBrk="0" hangingPunct="1">
              <a:lnSpc>
                <a:spcPct val="100000"/>
              </a:lnSpc>
              <a:spcBef>
                <a:spcPts val="1500"/>
              </a:spcBef>
              <a:tabLst>
                <a:tab pos="301625" algn="l"/>
              </a:tabLst>
              <a:extLst>
                <a:ext uri="{35155182-B16C-46BC-9424-99874614C6A1}">
                  <wpsdc:marlchars xmlns:wpsdc="http://www.wps.cn/officeDocument/2017/drawingmlCustomData" val="200" checksum="0"/>
                </a:ext>
              </a:extLst>
            </a:pPr>
            <a:r>
              <a:rPr kumimoji="0" lang="en-US" altLang="zh-CN" sz="2000" b="1" i="0" u="none" strike="noStrike" kern="0" cap="none" spc="-25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  O(RC)</a:t>
            </a:r>
            <a:endParaRPr kumimoji="0" lang="en-US" altLang="zh-CN" sz="2000" b="1" i="0" u="none" strike="noStrike" kern="0" cap="none" spc="-25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2700" indent="0" eaLnBrk="1" fontAlgn="auto" latinLnBrk="0" hangingPunct="1">
              <a:lnSpc>
                <a:spcPct val="10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</a:pP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50" dirty="0">
                <a:latin typeface="Tahoma" panose="020B0604030504040204"/>
                <a:cs typeface="Tahoma" panose="020B0604030504040204"/>
              </a:rPr>
              <a:t>1</a:t>
            </a:r>
            <a:endParaRPr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22409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结果分析</a:t>
            </a:r>
            <a:endParaRPr lang="en-US" altLang="zh-CN"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object 15"/>
          <p:cNvSpPr txBox="1">
            <a:spLocks noGrp="1"/>
          </p:cNvSpPr>
          <p:nvPr/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B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6453505"/>
            <a:ext cx="12192000" cy="4044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90906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6380989"/>
            <a:ext cx="12192000" cy="477520"/>
            <a:chOff x="0" y="6380989"/>
            <a:chExt cx="12192000" cy="4775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93245" y="6447278"/>
              <a:ext cx="436625" cy="41071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6380989"/>
              <a:ext cx="12191999" cy="7238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66090" y="1119505"/>
            <a:ext cx="11181080" cy="18599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indent="502920" eaLnBrk="1" fontAlgn="auto" latinLnBrk="0" hangingPunct="1">
              <a:lnSpc>
                <a:spcPct val="150000"/>
              </a:lnSpc>
              <a:spcBef>
                <a:spcPts val="1500"/>
              </a:spcBef>
              <a:buFont typeface="Wingdings" panose="05000000000000000000"/>
              <a:buNone/>
              <a:tabLst>
                <a:tab pos="301625" algn="l"/>
              </a:tabLst>
              <a:extLst>
                <a:ext uri="{35155182-B16C-46BC-9424-99874614C6A1}">
                  <wpsdc:indentchars xmlns:wpsdc="http://www.wps.cn/officeDocument/2017/drawingmlCustomData" val="200" checksum="2456631794"/>
                </a:ext>
              </a:extLst>
            </a:pP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这个项目的选择一开始是冯卓源同学提出的，他找到了关于元胞自动机的视频，受到启发希望能在此基础上实现迷宫生成与打分的自动化。我负责的是朴素的</a:t>
            </a:r>
            <a:r>
              <a:rPr kumimoji="0" lang="en-US" altLang="zh-CN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r>
              <a:rPr kumimoji="0" lang="zh-CN" altLang="en-US" sz="2000" b="1" i="0" u="none" strike="noStrike" kern="0" cap="none" spc="-20" normalizeH="0" baseline="0" noProof="1" dirty="0">
                <a:solidFill>
                  <a:srgbClr val="17660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实现方法与前端设计，他则负责一开始提出的元胞自动机的实现。受限于能力、硬件的不足，最终成果可能还存在许多不完善的地方，希望老师多多包涵。</a:t>
            </a:r>
            <a:endParaRPr kumimoji="0" lang="zh-CN" altLang="en-US" sz="2000" b="1" i="0" u="none" strike="noStrike" kern="0" cap="none" spc="-20" normalizeH="0" baseline="0" noProof="1" dirty="0">
              <a:solidFill>
                <a:srgbClr val="17660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87009" y="4362069"/>
            <a:ext cx="9156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Hogwarts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1211306" y="4327016"/>
            <a:ext cx="1657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.</a:t>
            </a:r>
            <a:endParaRPr sz="20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470260" y="5786424"/>
            <a:ext cx="10267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Consolas" panose="020B0609020204030204"/>
                <a:cs typeface="Consolas" panose="020B0609020204030204"/>
              </a:rPr>
              <a:t>Slytherin</a:t>
            </a:r>
            <a:endParaRPr sz="1600">
              <a:latin typeface="Consolas" panose="020B0609020204030204"/>
              <a:cs typeface="Consolas" panose="020B0609020204030204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pc="-50" dirty="0">
                <a:latin typeface="Tahoma" panose="020B0604030504040204"/>
                <a:cs typeface="Tahoma" panose="020B0604030504040204"/>
              </a:rPr>
              <a:t>1</a:t>
            </a:r>
            <a:endParaRPr spc="-5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682625" y="248285"/>
            <a:ext cx="224091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2400" b="1" spc="-25" dirty="0">
                <a:solidFill>
                  <a:srgbClr val="1556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成员分工</a:t>
            </a:r>
            <a:endParaRPr lang="en-US" altLang="zh-CN" sz="2400" b="1" spc="-25" dirty="0">
              <a:solidFill>
                <a:srgbClr val="1556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object 15"/>
          <p:cNvSpPr txBox="1">
            <a:spLocks noGrp="1"/>
          </p:cNvSpPr>
          <p:nvPr/>
        </p:nvSpPr>
        <p:spPr>
          <a:xfrm>
            <a:off x="7614031" y="6596823"/>
            <a:ext cx="3379977" cy="1569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000" b="1" i="0">
                <a:solidFill>
                  <a:srgbClr val="17660C"/>
                </a:solidFill>
                <a:latin typeface="Consolas" panose="020B0609020204030204"/>
                <a:ea typeface="+mn-ea"/>
                <a:cs typeface="Consolas" panose="020B0609020204030204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1040"/>
              </a:lnSpc>
            </a:pPr>
            <a:r>
              <a:rPr dirty="0"/>
              <a:t>Data</a:t>
            </a:r>
            <a:r>
              <a:rPr spc="-35" dirty="0"/>
              <a:t> </a:t>
            </a:r>
            <a:r>
              <a:rPr dirty="0"/>
              <a:t>Structures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dirty="0"/>
              <a:t>Algorithms,</a:t>
            </a:r>
            <a:r>
              <a:rPr spc="-50" dirty="0"/>
              <a:t> </a:t>
            </a:r>
            <a:r>
              <a:rPr dirty="0"/>
              <a:t>School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AI,</a:t>
            </a:r>
            <a:r>
              <a:rPr spc="-45" dirty="0"/>
              <a:t> </a:t>
            </a:r>
            <a:r>
              <a:rPr spc="-20" dirty="0"/>
              <a:t>UCAS</a:t>
            </a:r>
            <a:endParaRPr spc="-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052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5664"/>
            <a:ext cx="12192000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88152" y="4361688"/>
            <a:ext cx="914400" cy="2651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Hogwarts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0544" y="4325112"/>
            <a:ext cx="164592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5788152"/>
            <a:ext cx="1024128" cy="2651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Slytherin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6592824"/>
            <a:ext cx="3383280" cy="1554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604A"/>
                </a:solidFill>
                <a:latin typeface="Microsoft YaHei"/>
                <a:ea typeface="Microsoft YaHei"/>
              </a:rPr>
              <a:t>Data Structures &amp; Algorithms, School of AI, UCAS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2024" y="6510528"/>
            <a:ext cx="21945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5604A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" y="45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7660C"/>
                </a:solidFill>
                <a:latin typeface="Microsoft YaHei"/>
                <a:ea typeface="Microsoft YaHei"/>
              </a:rPr>
              <a:t>[ 扩展 ]  思路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18288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4A5D3A"/>
                </a:solidFill>
                <a:latin typeface="Microsoft YaHei"/>
                <a:ea typeface="Microsoft YaHei"/>
              </a:rPr>
              <a:t>扩展：CA + ES 自动生成迷宫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344" y="777240"/>
            <a:ext cx="7315200" cy="0"/>
          </a:xfrm>
          <a:prstGeom prst="line">
            <a:avLst/>
          </a:prstGeom>
          <a:ln w="12700">
            <a:solidFill>
              <a:srgbClr val="6B9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6344" y="1005840"/>
            <a:ext cx="11247120" cy="5029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17660C"/>
                </a:solidFill>
                <a:latin typeface="Microsoft YaHei"/>
                <a:ea typeface="Microsoft YaHei"/>
              </a:rPr>
              <a:t>❖  Conway B/S 字符串只有 2^18 种, 几乎搜不到细长连通迷宫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2000" b="1">
                <a:solidFill>
                  <a:srgbClr val="C62828"/>
                </a:solidFill>
                <a:latin typeface="Microsoft YaHei"/>
                <a:ea typeface="Microsoft YaHei"/>
              </a:rPr>
              <a:t>❖  改用多族 CA (FamilyMask), 染色体 = 2^1648 bit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17660C"/>
                </a:solidFill>
                <a:latin typeface="Microsoft YaHei"/>
                <a:ea typeface="Microsoft YaHei"/>
              </a:rPr>
              <a:t>❖  用进化策略搜索: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17660C"/>
                </a:solidFill>
                <a:latin typeface="Microsoft YaHei"/>
                <a:ea typeface="Microsoft YaHei"/>
              </a:rPr>
              <a:t>    –  候选规则演化出 40×60 二值网格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17660C"/>
                </a:solidFill>
                <a:latin typeface="Microsoft YaHei"/>
                <a:ea typeface="Microsoft YaHei"/>
              </a:rPr>
              <a:t>    –  用 maze_quality 打分, 作为 fitness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17660C"/>
                </a:solidFill>
                <a:latin typeface="Microsoft YaHei"/>
                <a:ea typeface="Microsoft YaHei"/>
              </a:rPr>
              <a:t>    –  保留高分规则, 变异产生下一代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2000" b="0">
                <a:solidFill>
                  <a:srgbClr val="17660C"/>
                </a:solidFill>
                <a:latin typeface="Microsoft YaHei"/>
                <a:ea typeface="Microsoft YaHei"/>
              </a:rPr>
              <a:t>❖  WebGPU 加速: 单条 6.9 min, 160 run 共 21.92 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052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5664"/>
            <a:ext cx="12192000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88152" y="4361688"/>
            <a:ext cx="914400" cy="2651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Hogwarts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0544" y="4325112"/>
            <a:ext cx="164592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5788152"/>
            <a:ext cx="1024128" cy="2651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Slytherin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6592824"/>
            <a:ext cx="3383280" cy="1554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604A"/>
                </a:solidFill>
                <a:latin typeface="Microsoft YaHei"/>
                <a:ea typeface="Microsoft YaHei"/>
              </a:rPr>
              <a:t>Data Structures &amp; Algorithms, School of AI, UCAS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2024" y="6510528"/>
            <a:ext cx="21945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5604A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" y="45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7660C"/>
                </a:solidFill>
                <a:latin typeface="Microsoft YaHei"/>
                <a:ea typeface="Microsoft YaHei"/>
              </a:rPr>
              <a:t>[ 扩展 ]  FamilyMask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18288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4A5D3A"/>
                </a:solidFill>
                <a:latin typeface="Microsoft YaHei"/>
                <a:ea typeface="Microsoft YaHei"/>
              </a:rPr>
              <a:t>FamilyMask 多族 CA 染色体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344" y="777240"/>
            <a:ext cx="7315200" cy="0"/>
          </a:xfrm>
          <a:prstGeom prst="line">
            <a:avLst/>
          </a:prstGeom>
          <a:ln w="12700">
            <a:solidFill>
              <a:srgbClr val="6B9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6344" y="1005840"/>
            <a:ext cx="4754880" cy="5029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7660C"/>
                </a:solidFill>
                <a:latin typeface="Microsoft YaHei"/>
                <a:ea typeface="Microsoft YaHei"/>
              </a:rPr>
              <a:t>❖  B/S 字符串推广到最多 16 族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7660C"/>
                </a:solidFill>
                <a:latin typeface="Microsoft YaHei"/>
                <a:ea typeface="Microsoft YaHei"/>
              </a:rPr>
              <a:t>❖  每族 103 bit: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7660C"/>
                </a:solidFill>
                <a:latin typeface="Microsoft YaHei"/>
                <a:ea typeface="Microsoft YaHei"/>
              </a:rPr>
              <a:t>    –  80-bit cells mask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7660C"/>
                </a:solidFill>
                <a:latin typeface="Microsoft YaHei"/>
                <a:ea typeface="Microsoft YaHei"/>
              </a:rPr>
              <a:t>    –  9-bit birth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7660C"/>
                </a:solidFill>
                <a:latin typeface="Microsoft YaHei"/>
                <a:ea typeface="Microsoft YaHei"/>
              </a:rPr>
              <a:t>    –  9-bit survive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7660C"/>
                </a:solidFill>
                <a:latin typeface="Microsoft YaHei"/>
                <a:ea typeface="Microsoft YaHei"/>
              </a:rPr>
              <a:t>    –  4-bit priority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C62828"/>
                </a:solidFill>
                <a:latin typeface="Microsoft YaHei"/>
                <a:ea typeface="Microsoft YaHei"/>
              </a:rPr>
              <a:t>❖  染色体总长 2^1648 bit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7660C"/>
                </a:solidFill>
                <a:latin typeface="Microsoft YaHei"/>
                <a:ea typeface="Microsoft YaHei"/>
              </a:rPr>
              <a:t>❖  演化时按优先级遍历, 第一个匹配族决定下一格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7660C"/>
                </a:solidFill>
                <a:latin typeface="Microsoft YaHei"/>
                <a:ea typeface="Microsoft YaHei"/>
              </a:rPr>
              <a:t>❖  单族时退化为经典 B/S</a:t>
            </a:r>
          </a:p>
        </p:txBody>
      </p:sp>
      <p:pic>
        <p:nvPicPr>
          <p:cNvPr id="14" name="Picture 13" descr="fig_chromosome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097280"/>
            <a:ext cx="6217920" cy="25464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052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5664"/>
            <a:ext cx="12192000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88152" y="4361688"/>
            <a:ext cx="914400" cy="2651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Hogwarts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0544" y="4325112"/>
            <a:ext cx="164592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5788152"/>
            <a:ext cx="1024128" cy="2651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Slytherin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6592824"/>
            <a:ext cx="3383280" cy="1554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604A"/>
                </a:solidFill>
                <a:latin typeface="Microsoft YaHei"/>
                <a:ea typeface="Microsoft YaHei"/>
              </a:rPr>
              <a:t>Data Structures &amp; Algorithms, School of AI, UCAS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2024" y="6510528"/>
            <a:ext cx="21945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5604A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" y="45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7660C"/>
                </a:solidFill>
                <a:latin typeface="Microsoft YaHei"/>
                <a:ea typeface="Microsoft YaHei"/>
              </a:rPr>
              <a:t>[ 扩展 ]  评价指标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18288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4A5D3A"/>
                </a:solidFill>
                <a:latin typeface="Microsoft YaHei"/>
                <a:ea typeface="Microsoft YaHei"/>
              </a:rPr>
              <a:t>maze_quality 十维迷宫度量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344" y="777240"/>
            <a:ext cx="7315200" cy="0"/>
          </a:xfrm>
          <a:prstGeom prst="line">
            <a:avLst/>
          </a:prstGeom>
          <a:ln w="12700">
            <a:solidFill>
              <a:srgbClr val="6B9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6344" y="1005840"/>
            <a:ext cx="7589520" cy="5029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❖  10 个子度量, 值域 [0,1]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    –  5 拓扑: corridors / diffusion / junctions / connectivity / outer ring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    –  5 多样性: local blocks / self-symmetry / adjacency pairs /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    –  block uniqueness / long-run ratio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❖  加权聚合 → min 平衡 → 三角墙比门控 [0.4, 0.6]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  <a:ea typeface="Microsoft YaHei"/>
              </a:rPr>
              <a:t>❖  15-pattern 测试: 0/15 误判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    –  TRUE mean 0.759, PSEUDO mean 0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❖  扩展到 239 grids (多算法 × 多种子):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  <a:ea typeface="Microsoft YaHei"/>
              </a:rPr>
              <a:t>    –  67.6% 全对, 94.6% 对 14/15 以上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    –  唯一失败模式: Spiral 高转数种子</a:t>
            </a:r>
          </a:p>
        </p:txBody>
      </p:sp>
      <p:pic>
        <p:nvPicPr>
          <p:cNvPr id="14" name="Picture 13" descr="fig_15pat_grid_m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005840"/>
            <a:ext cx="284664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052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5664"/>
            <a:ext cx="12192000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88152" y="4361688"/>
            <a:ext cx="914400" cy="2651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Hogwarts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0544" y="4325112"/>
            <a:ext cx="164592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5788152"/>
            <a:ext cx="1024128" cy="2651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Slytherin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6592824"/>
            <a:ext cx="3383280" cy="1554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604A"/>
                </a:solidFill>
                <a:latin typeface="Microsoft YaHei"/>
                <a:ea typeface="Microsoft YaHei"/>
              </a:rPr>
              <a:t>Data Structures &amp; Algorithms, School of AI, UCAS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2024" y="6510528"/>
            <a:ext cx="21945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5604A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" y="45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7660C"/>
                </a:solidFill>
                <a:latin typeface="Microsoft YaHei"/>
                <a:ea typeface="Microsoft YaHei"/>
              </a:rPr>
              <a:t>[ 扩展 ]  Bellot 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18288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4A5D3A"/>
                </a:solidFill>
                <a:latin typeface="Microsoft YaHei"/>
                <a:ea typeface="Microsoft YaHei"/>
              </a:rPr>
              <a:t>Bellot 2021 F 的 cell-based 复刻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344" y="777240"/>
            <a:ext cx="7315200" cy="0"/>
          </a:xfrm>
          <a:prstGeom prst="line">
            <a:avLst/>
          </a:prstGeom>
          <a:ln w="12700">
            <a:solidFill>
              <a:srgbClr val="6B9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6344" y="1005840"/>
            <a:ext cx="7589520" cy="5029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❖  Bellot 2021 F = ν / δ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  <a:ea typeface="Microsoft YaHei"/>
              </a:rPr>
              <a:t>❖  本文 cell-based 复刻, 数值与原文 wall-based 方向相反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❖  15-pattern 结果: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    –  TRUE  mean F = 0.896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    –  PSEUDO mean F = 145.448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1">
                <a:solidFill>
                  <a:srgbClr val="C62828"/>
                </a:solidFill>
                <a:latin typeface="Microsoft YaHei"/>
                <a:ea typeface="Microsoft YaHei"/>
              </a:rPr>
              <a:t>❖  按 Bellot 假说判 4/9 误判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    –  失败模式: Spiral / HStripes / CRings / Honeycomb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    –  都是 ν=0 类, Bellot 假说本身不适用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700" b="0">
                <a:solidFill>
                  <a:srgbClr val="17660C"/>
                </a:solidFill>
                <a:latin typeface="Microsoft YaHei"/>
                <a:ea typeface="Microsoft YaHei"/>
              </a:rPr>
              <a:t>❖  方向结论一致: F 小 = 更像 maze</a:t>
            </a:r>
          </a:p>
        </p:txBody>
      </p:sp>
      <p:pic>
        <p:nvPicPr>
          <p:cNvPr id="14" name="Picture 13" descr="fig_15pat_grid_bel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005840"/>
            <a:ext cx="284664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052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5664"/>
            <a:ext cx="12192000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88152" y="4361688"/>
            <a:ext cx="914400" cy="2651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Hogwarts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0544" y="4325112"/>
            <a:ext cx="164592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5788152"/>
            <a:ext cx="1024128" cy="2651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Slytherin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6592824"/>
            <a:ext cx="3383280" cy="1554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604A"/>
                </a:solidFill>
                <a:latin typeface="Microsoft YaHei"/>
                <a:ea typeface="Microsoft YaHei"/>
              </a:rPr>
              <a:t>Data Structures &amp; Algorithms, School of AI, UCAS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2024" y="6510528"/>
            <a:ext cx="21945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5604A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" y="45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7660C"/>
                </a:solidFill>
                <a:latin typeface="Microsoft YaHei"/>
                <a:ea typeface="Microsoft YaHei"/>
              </a:rPr>
              <a:t>[ 扩展 ]  ES 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18288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4A5D3A"/>
                </a:solidFill>
                <a:latin typeface="Microsoft YaHei"/>
                <a:ea typeface="Microsoft YaHei"/>
              </a:rPr>
              <a:t>ES 搜索: 160 run 全交叉扫描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344" y="777240"/>
            <a:ext cx="7315200" cy="0"/>
          </a:xfrm>
          <a:prstGeom prst="line">
            <a:avLst/>
          </a:prstGeom>
          <a:ln w="12700">
            <a:solidFill>
              <a:srgbClr val="6B9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6344" y="1005840"/>
            <a:ext cx="1124712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C62828"/>
                </a:solidFill>
                <a:latin typeface="Microsoft YaHei"/>
                <a:ea typeface="Microsoft YaHei"/>
              </a:rPr>
              <a:t>❖  8 mask × 5 maxFam × 4 seed = 160 run, 总耗时 21.92 h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C62828"/>
                </a:solidFill>
                <a:latin typeface="Microsoft YaHei"/>
                <a:ea typeface="Microsoft YaHei"/>
              </a:rPr>
              <a:t>❖  Top-1 score 0.7982 (manhattan-2 / maxFam=2 / seed=3)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7660C"/>
                </a:solidFill>
                <a:latin typeface="Microsoft YaHei"/>
                <a:ea typeface="Microsoft YaHei"/>
              </a:rPr>
              <a:t>❖  Top-10 全 manhattan (8× mf=2 + 2× mf=4)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800" b="1">
                <a:solidFill>
                  <a:srgbClr val="C62828"/>
                </a:solidFill>
                <a:latin typeface="Microsoft YaHei"/>
                <a:ea typeface="Microsoft YaHei"/>
              </a:rPr>
              <a:t>❖  跨系列 p-value = 0.0007</a:t>
            </a:r>
          </a:p>
        </p:txBody>
      </p:sp>
      <p:pic>
        <p:nvPicPr>
          <p:cNvPr id="14" name="Picture 13" descr="fig_smallsweep_gri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788920"/>
            <a:ext cx="5458968" cy="34702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0525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55664"/>
            <a:ext cx="12192000" cy="402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88152" y="4361688"/>
            <a:ext cx="914400" cy="2651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Hogwarts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10544" y="4325112"/>
            <a:ext cx="164592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Microsoft YaHei"/>
                <a:ea typeface="Microsoft YaHe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5788152"/>
            <a:ext cx="1024128" cy="2651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  <a:ea typeface="Microsoft YaHei"/>
              </a:rPr>
              <a:t>Slytherin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2" y="6592824"/>
            <a:ext cx="3383280" cy="1554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604A"/>
                </a:solidFill>
                <a:latin typeface="Microsoft YaHei"/>
                <a:ea typeface="Microsoft YaHei"/>
              </a:rPr>
              <a:t>Data Structures &amp; Algorithms, School of AI, UCAS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2024" y="6510528"/>
            <a:ext cx="219456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55604A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" y="4572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7660C"/>
                </a:solidFill>
                <a:latin typeface="Microsoft YaHei"/>
                <a:ea typeface="Microsoft YaHei"/>
              </a:rPr>
              <a:t>[ 扩展 ]  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182880"/>
            <a:ext cx="73152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4A5D3A"/>
                </a:solidFill>
                <a:latin typeface="Microsoft YaHei"/>
                <a:ea typeface="Microsoft YaHei"/>
              </a:rPr>
              <a:t>Top-1 与 maze_seal 流水线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6344" y="777240"/>
            <a:ext cx="7315200" cy="0"/>
          </a:xfrm>
          <a:prstGeom prst="line">
            <a:avLst/>
          </a:prstGeom>
          <a:ln w="12700">
            <a:solidFill>
              <a:srgbClr val="6B9F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fig_top_gri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1005840"/>
            <a:ext cx="4389120" cy="3646345"/>
          </a:xfrm>
          <a:prstGeom prst="rect">
            <a:avLst/>
          </a:prstGeom>
        </p:spPr>
      </p:pic>
      <p:pic>
        <p:nvPicPr>
          <p:cNvPr id="14" name="Picture 13" descr="fig_hero_top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005840"/>
            <a:ext cx="5925312" cy="36605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6344" y="4937760"/>
            <a:ext cx="1124712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17660C"/>
                </a:solidFill>
                <a:latin typeface="Microsoft YaHei"/>
                <a:ea typeface="Microsoft YaHei"/>
              </a:rPr>
              <a:t>❖  左: Top-4 最佳 + 2 失败对照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600" b="0">
                <a:solidFill>
                  <a:srgbClr val="17660C"/>
                </a:solidFill>
                <a:latin typeface="Microsoft YaHei"/>
                <a:ea typeface="Microsoft YaHei"/>
              </a:rPr>
              <a:t>❖  右: 最佳 ckpt 三视图 (原图 → seal 后 → 带路径)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600" b="1">
                <a:solidFill>
                  <a:srgbClr val="C62828"/>
                </a:solidFill>
                <a:latin typeface="Microsoft YaHei"/>
                <a:ea typeface="Microsoft YaHei"/>
              </a:rPr>
              <a:t>❖  maze_seal: 12 个 ckpt 打包, clone 后可直接复现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566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1606</Words>
  <Application>WPS 演示</Application>
  <PresentationFormat>On-screen Show (4:3)</PresentationFormat>
  <Paragraphs>151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46" baseType="lpstr">
      <vt:lpstr>Arial</vt:lpstr>
      <vt:lpstr>宋体</vt:lpstr>
      <vt:lpstr>Wingdings</vt:lpstr>
      <vt:lpstr>微软雅黑</vt:lpstr>
      <vt:lpstr>Consolas</vt:lpstr>
      <vt:lpstr>Verdana</vt:lpstr>
      <vt:lpstr>Tahoma</vt:lpstr>
      <vt:lpstr>Consolas</vt:lpstr>
      <vt:lpstr>Palatino Linotype</vt:lpstr>
      <vt:lpstr>Wingdings</vt:lpstr>
      <vt:lpstr>Cambria Math</vt:lpstr>
      <vt:lpstr>Times New Roman</vt:lpstr>
      <vt:lpstr>Arial Unicode MS</vt:lpstr>
      <vt:lpstr>Calibri</vt:lpstr>
      <vt:lpstr>Calibri</vt:lpstr>
      <vt:lpstr>Symbol</vt:lpstr>
      <vt:lpstr>Cambria</vt:lpstr>
      <vt:lpstr>Arial MT</vt:lpstr>
      <vt:lpstr>Lucida Sans Unicode</vt:lpstr>
      <vt:lpstr>Arial MT</vt:lpstr>
      <vt:lpstr>Cambria</vt:lpstr>
      <vt:lpstr>Lucida Sans Unicode</vt:lpstr>
      <vt:lpstr>Palatino Linotype</vt:lpstr>
      <vt:lpstr>Symbol</vt:lpstr>
      <vt:lpstr>Tahoma</vt:lpstr>
      <vt:lpstr>Times New Roman</vt:lpstr>
      <vt:lpstr>Verdana</vt:lpstr>
      <vt:lpstr>Wingdings</vt:lpstr>
      <vt:lpstr>Wonder Arial</vt:lpstr>
      <vt:lpstr>Latin Modern Math</vt:lpstr>
      <vt:lpstr>MS Mincho</vt:lpstr>
      <vt:lpstr>Segoe Print</vt:lpstr>
      <vt:lpstr>quote-cjk-patch</vt:lpstr>
      <vt:lpstr>katex_main</vt:lpstr>
      <vt:lpstr>KaTeX_Math</vt:lpstr>
      <vt:lpstr>Office Theme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WPS_1724467281</cp:lastModifiedBy>
  <cp:revision>3</cp:revision>
  <dcterms:created xsi:type="dcterms:W3CDTF">2026-07-17T13:00:00Z</dcterms:created>
  <dcterms:modified xsi:type="dcterms:W3CDTF">2026-07-17T15:39:45Z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2026-04-28T16:00:00Z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2026-07-16T16:00:00Z</vt:filetime>
  </property>
  <property fmtid="{D5CDD505-2E9C-101B-9397-08002B2CF9AE}" pid="6" name="Producer">
    <vt:lpwstr>Microsoft® PowerPoint® 2019</vt:lpwstr>
  </property>
  <property fmtid="{D5CDD505-2E9C-101B-9397-08002B2CF9AE}" pid="7" name="KSOProductBuildVer">
    <vt:lpwstr>2052-12.1.0.26375</vt:lpwstr>
  </property>
  <property fmtid="{D5CDD505-2E9C-101B-9397-08002B2CF9AE}" pid="8" name="ICV">
    <vt:lpwstr>CE0618F26EFA4156844DC5E9F10F008E_12</vt:lpwstr>
  </property>
</Properties>
</file>